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182880" cy="182880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7160"/>
            <a:ext cx="182880" cy="18288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37160"/>
            <a:ext cx="182880" cy="182880"/>
          </a:xfrm>
          <a:prstGeom prst="ellipse">
            <a:avLst/>
          </a:prstGeom>
          <a:solidFill>
            <a:srgbClr val="00B74A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91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-- catalog vision rag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--init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KONTACT</a:t>
            </a:r>
            <a:endParaRPr lang="en-US" sz="128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2011680" cy="109728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06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PHONE PHOTOS OF VENDOR CATALOGS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INTO A CHATTABLE, SEARCHABLE DATABASE.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852160"/>
            <a:ext cx="1280160" cy="320040"/>
          </a:xfrm>
          <a:prstGeom prst="rect">
            <a:avLst/>
          </a:prstGeom>
          <a:solidFill>
            <a:srgbClr val="00B74A"/>
          </a:solidFill>
          <a:ln w="28575">
            <a:solidFill>
              <a:srgbClr val="00B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852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READY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5852160"/>
            <a:ext cx="2103120" cy="320040"/>
          </a:xfrm>
          <a:prstGeom prst="rect">
            <a:avLst/>
          </a:prstGeom>
          <a:solidFill>
            <a:srgbClr val="1A1A1A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5852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MULTI-AGENT VISION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5852160"/>
            <a:ext cx="1463040" cy="320040"/>
          </a:xfrm>
          <a:prstGeom prst="rect">
            <a:avLst/>
          </a:prstGeom>
          <a:solidFill>
            <a:srgbClr val="1A1A1A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5852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+ 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5852160"/>
            <a:ext cx="1645920" cy="320040"/>
          </a:xfrm>
          <a:prstGeom prst="rect">
            <a:avLst/>
          </a:prstGeom>
          <a:solidFill>
            <a:srgbClr val="1A1A1A"/>
          </a:solidFill>
          <a:ln w="285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5852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PWA CAPABLE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71055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2026.04.22  //  TECHNICAL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--diagnose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[02/18]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 shows generate catalog chaos that no one can query later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8008" y="2011680"/>
            <a:ext cx="3566160" cy="301752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008" y="2011680"/>
            <a:ext cx="3566160" cy="137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792328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92328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STACKS OF BROCHURES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2328" y="3703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photograph dozens of vendor catalogs per event. Photos pile up in camera rolls, unlabeled and unsearchable.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2768" y="2011680"/>
            <a:ext cx="3566160" cy="301752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2768" y="2011680"/>
            <a:ext cx="3566160" cy="1371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87088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87088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SEARCH, NO STRUCTURE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87088" y="3703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specs, prices, and contacts live as pixels — not data. Finding one SKU means scrolling through hundreds of images.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7528" y="2011680"/>
            <a:ext cx="3566160" cy="301752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7528" y="2011680"/>
            <a:ext cx="3566160" cy="137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8381848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373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381848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LOST INSTITUTIONAL MEMORY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1848" y="3703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at the office, nobody remembers which vendor had what. Notes vanish. Follow-ups drop. Deals die.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AVG. </a:t>
            </a:r>
            <a:pPr algn="ctr"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50+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VENDOR CATALOGS PHOTOGRAPHED PER TRADE SHOW   </a:t>
            </a:r>
            <a:pPr algn="ct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ctr" indent="0" marL="0">
              <a:buNone/>
            </a:pPr>
            <a:r>
              <a:rPr lang="en-US" sz="1300" b="1" dirty="0">
                <a:solidFill>
                  <a:srgbClr val="FF5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ZERO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ARE QUERYABLE WITHOUT KONTACT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problem.txt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--solution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[03/18]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multi-agent vision pipeline + chat agent that knows your catalog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94415" cy="109728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SNAP  </a:t>
            </a:r>
            <a:pPr algn="ctr" indent="0" marL="0">
              <a:buNone/>
            </a:pPr>
            <a:r>
              <a:rPr lang="en-US" sz="36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-&gt;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EXTRACT  </a:t>
            </a:r>
            <a:pPr algn="ctr" indent="0" marL="0">
              <a:buNone/>
            </a:pPr>
            <a:r>
              <a:rPr lang="en-US" sz="36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-&gt;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INDEX  </a:t>
            </a:r>
            <a:pPr algn="ctr" indent="0" marL="0">
              <a:buNone/>
            </a:pPr>
            <a:r>
              <a:rPr lang="en-US" sz="36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-&gt;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CHAT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2567864" cy="21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37560"/>
            <a:ext cx="2567864" cy="73152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AGENTS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4805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routes each image to a specialized extractor — 8 image types, type-aware prompts.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90824" y="3337560"/>
            <a:ext cx="2567864" cy="21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0824" y="3337560"/>
            <a:ext cx="2567864" cy="73152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6" name="Text 14"/>
          <p:cNvSpPr/>
          <p:nvPr/>
        </p:nvSpPr>
        <p:spPr>
          <a:xfrm>
            <a:off x="3619424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9424" y="393192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+ RAG HYBRID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9424" y="44805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retrieves vectors AND runs live SQL. Precise counts, real citations, no hallucination.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3337560"/>
            <a:ext cx="2567864" cy="21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008" y="3337560"/>
            <a:ext cx="2567864" cy="73152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61608" y="393192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 SEARCH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61608" y="44805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+ SQLite FTS5 deduped and merged. Best of both retrieval modes.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75191" y="3337560"/>
            <a:ext cx="2567864" cy="21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5191" y="3337560"/>
            <a:ext cx="2567864" cy="73152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6" name="Text 24"/>
          <p:cNvSpPr/>
          <p:nvPr/>
        </p:nvSpPr>
        <p:spPr>
          <a:xfrm>
            <a:off x="9303791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03791" y="3931920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MEMORY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03791" y="44805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+ persisted facts shape every future prompt. The agent gets smarter per user.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"one app. one workflow. zero scrolling."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stats --summary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[04/18]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surface-level metrics of what's inside KONTACT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67864" cy="32004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2567864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293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upload, queue, chat, search, export, feedback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90824" y="2011680"/>
            <a:ext cx="2567864" cy="32004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0824" y="2011680"/>
            <a:ext cx="2567864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3390824" y="201168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7984" y="2606040"/>
            <a:ext cx="2293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3573704" y="42519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TYPES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73704" y="461772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classified + routed to specialized extractors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33008" y="2011680"/>
            <a:ext cx="2567864" cy="32004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008" y="2011680"/>
            <a:ext cx="2567864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6233008" y="201168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70168" y="2606040"/>
            <a:ext cx="2293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415888" y="42519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AGENT TOOLS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15888" y="461772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query_catalog_db, introspect_schema, summary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75191" y="2011680"/>
            <a:ext cx="2567864" cy="32004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191" y="2011680"/>
            <a:ext cx="2567864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9075191" y="201168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12351" y="2606040"/>
            <a:ext cx="2293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9258071" y="42519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58071" y="4617720"/>
            <a:ext cx="2202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 + FTS5 + queue + chat_history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532120"/>
            <a:ext cx="5410048" cy="77724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53212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MAX_WORKERS </a:t>
            </a:r>
            <a:pPr algn="ctr"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8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  PARALLEL VISION EXTRACTIONS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3008" y="5532120"/>
            <a:ext cx="5410048" cy="77724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3008" y="5532120"/>
            <a:ext cx="541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TOOL_LOOP </a:t>
            </a:r>
            <a:pPr algn="ctr"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 3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   ITERATIONS PER AGENT TURN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kontact --version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--architecture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[05/18]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camera -&gt; background queue -&gt; multi-agent vision -&gt; dual search -&gt; chat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2468880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94560"/>
            <a:ext cx="2468880" cy="73152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/ GALLERY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0" y="2491740"/>
            <a:ext cx="223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69538" y="2194560"/>
            <a:ext cx="2468880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9538" y="2194560"/>
            <a:ext cx="246888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2418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2418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/api/upload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84138" y="2491740"/>
            <a:ext cx="223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53277" y="2194560"/>
            <a:ext cx="2468880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3277" y="2194560"/>
            <a:ext cx="246888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6436157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6157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queue table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67877" y="2491740"/>
            <a:ext cx="223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7015" y="2194560"/>
            <a:ext cx="2468880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37015" y="2194560"/>
            <a:ext cx="2468880" cy="73152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4" name="Text 22"/>
          <p:cNvSpPr/>
          <p:nvPr/>
        </p:nvSpPr>
        <p:spPr>
          <a:xfrm>
            <a:off x="9219895" y="2377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19895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image_type + confidence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37015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037015" y="4160520"/>
            <a:ext cx="2468880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7015" y="4160520"/>
            <a:ext cx="2468880" cy="73152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9" name="Text 27"/>
          <p:cNvSpPr/>
          <p:nvPr/>
        </p:nvSpPr>
        <p:spPr>
          <a:xfrm>
            <a:off x="9219895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AGENT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19895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+ SQL tool loop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67877" y="4457700"/>
            <a:ext cx="223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253277" y="4160520"/>
            <a:ext cx="2468880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53277" y="4160520"/>
            <a:ext cx="246888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/>
          <p:nvPr/>
        </p:nvSpPr>
        <p:spPr>
          <a:xfrm>
            <a:off x="6436157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STORAGE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36157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+ FTS5 + Chroma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84138" y="4457700"/>
            <a:ext cx="223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3469538" y="4160520"/>
            <a:ext cx="2468880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69538" y="4160520"/>
            <a:ext cx="246888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2418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 OUTPUT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52418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data/extractions/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00400" y="4457700"/>
            <a:ext cx="223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85800" y="4160520"/>
            <a:ext cx="2468880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4160520"/>
            <a:ext cx="2468880" cy="73152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SPECIALIZED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6868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type-aware extractor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queue-based   </a:t>
            </a:r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async processing   </a:t>
            </a:r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WAL mode SQLite   </a:t>
            </a:r>
            <a:pPr algn="ct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ctr" indent="0" marL="0">
              <a:buNone/>
            </a:pPr>
            <a:r>
              <a:rPr lang="en-US" sz="1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streaming SSE to UI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architecture.md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pipeline --explain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[06/18]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2-STEP EXTRACTION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 agent routes each image to a specialized extractor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937760" cy="384048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20240"/>
            <a:ext cx="4937760" cy="10972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CLASSIFIER AGENT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vision call. Identifies what this page IS before deciding how to parse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886200"/>
            <a:ext cx="438912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86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 </a:t>
            </a:r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(base64, up to 4096px)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4389120" cy="86868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754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image_type, confidence 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3383280"/>
            <a:ext cx="944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-&gt;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6613855" y="1920240"/>
            <a:ext cx="4937760" cy="384048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3855" y="1920240"/>
            <a:ext cx="4937760" cy="109728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9" name="Text 17"/>
          <p:cNvSpPr/>
          <p:nvPr/>
        </p:nvSpPr>
        <p:spPr>
          <a:xfrm>
            <a:off x="6888175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88175" y="2560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SPECIALIZED AGENT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88175" y="3108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Type-specific prompt extracts structured data tailored to the page kind.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88175" y="3886200"/>
            <a:ext cx="438912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5335" y="3886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 </a:t>
            </a:r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+ type-specific prompt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88175" y="4663440"/>
            <a:ext cx="4389120" cy="86868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5335" y="4754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JSON (type-specific schema)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google/gemini-3.1-flash-lite-preview  //  via OpenRouter  //  async batch, 8 parallel workers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pipeline/extractor.py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classifier --types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[07/18]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IMAGE TYPES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classification routes to a specialized extraction prompt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602154" cy="1737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109728" cy="1737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product_page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SKUs, specs, descriptions, variants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79394" y="2057400"/>
            <a:ext cx="2602154" cy="1737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9394" y="2057400"/>
            <a:ext cx="109728" cy="17373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3714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3714" y="25146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company_profile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3714" y="30175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about, history, founding, positioning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0148" y="2057400"/>
            <a:ext cx="2602154" cy="1737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0148" y="2057400"/>
            <a:ext cx="109728" cy="1737360"/>
          </a:xfrm>
          <a:prstGeom prst="rect">
            <a:avLst/>
          </a:prstGeom>
          <a:solidFill>
            <a:srgbClr val="2962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84468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84468" y="25146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84468" y="30175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catalog title, edition, season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40901" y="2057400"/>
            <a:ext cx="2602154" cy="1737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40901" y="2057400"/>
            <a:ext cx="109728" cy="173736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4" name="Text 22"/>
          <p:cNvSpPr/>
          <p:nvPr/>
        </p:nvSpPr>
        <p:spPr>
          <a:xfrm>
            <a:off x="9315221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15221" y="251460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contact_page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15221" y="301752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address, reps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2602154" cy="1737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23360"/>
            <a:ext cx="109728" cy="1737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448056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tech_diagram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98348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schematics, cutaways, exploded views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79394" y="4023360"/>
            <a:ext cx="2602154" cy="1737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9394" y="4023360"/>
            <a:ext cx="109728" cy="173736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34" name="Text 32"/>
          <p:cNvSpPr/>
          <p:nvPr/>
        </p:nvSpPr>
        <p:spPr>
          <a:xfrm>
            <a:off x="3653714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3714" y="448056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section_divider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3714" y="498348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chapter/category separators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10148" y="4023360"/>
            <a:ext cx="2602154" cy="1737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0148" y="4023360"/>
            <a:ext cx="109728" cy="1737360"/>
          </a:xfrm>
          <a:prstGeom prst="rect">
            <a:avLst/>
          </a:prstGeom>
          <a:solidFill>
            <a:srgbClr val="2962FF"/>
          </a:solidFill>
          <a:ln/>
        </p:spPr>
      </p:sp>
      <p:sp>
        <p:nvSpPr>
          <p:cNvPr id="39" name="Text 37"/>
          <p:cNvSpPr/>
          <p:nvPr/>
        </p:nvSpPr>
        <p:spPr>
          <a:xfrm>
            <a:off x="6484468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84468" y="448056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price_list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84468" y="498348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+ price table rows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40901" y="4023360"/>
            <a:ext cx="2602154" cy="1737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40901" y="4023360"/>
            <a:ext cx="109728" cy="17373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4" name="Text 42"/>
          <p:cNvSpPr/>
          <p:nvPr/>
        </p:nvSpPr>
        <p:spPr>
          <a:xfrm>
            <a:off x="9315221" y="4206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315221" y="4480560"/>
            <a:ext cx="2144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315221" y="4983480"/>
            <a:ext cx="21449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— flexible free-form extraction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5806440"/>
            <a:ext cx="11094415" cy="59436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58064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type has a dedicated prompt in </a:t>
            </a:r>
            <a:pPr algn="ctr" indent="0" marL="0">
              <a:buNone/>
            </a:pPr>
            <a:r>
              <a:rPr lang="en-US" sz="1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pipeline/agents.py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  output schemas vary per type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-c '^def extract_' pipeline/agents.py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db --describe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[08/18]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storage: relational SQLite + FTS5 keyword, plus ChromaDB vectors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766560" cy="416052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6766560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 //  WAL mode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621792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43200"/>
            <a:ext cx="73152" cy="68580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54680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folder, file, type, company, products JSON, contact JSON, raw_text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538728"/>
            <a:ext cx="621792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538728"/>
            <a:ext cx="73152" cy="68580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387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documents_fts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54680" y="353872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FTS5 virtual table for full-text keyword search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334256"/>
            <a:ext cx="621792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334256"/>
            <a:ext cx="73152" cy="68580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3425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54680" y="433425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batch_id, file_name, file_path, status, image_type, error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129784"/>
            <a:ext cx="621792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129784"/>
            <a:ext cx="73152" cy="68580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12978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chat_history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54680" y="51297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session_id, role, content, timestamp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43800" y="1965960"/>
            <a:ext cx="4099255" cy="416052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1965960"/>
            <a:ext cx="4099255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/>
          <p:nvPr/>
        </p:nvSpPr>
        <p:spPr>
          <a:xfrm>
            <a:off x="7818120" y="1965960"/>
            <a:ext cx="3550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  //  persistent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269748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on disk at data/chroma/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18120" y="315468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via OpenRouter: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18120" y="361188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openai/text-embedding-3-small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818120" y="406908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semantic search over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18120" y="452628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raw_text chunks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18120" y="498348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vectors merged with FTS5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18120" y="5440680"/>
            <a:ext cx="3550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and deduped (max 8 chunks)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355080"/>
            <a:ext cx="11094415" cy="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sqlite3 data/kontact.db '.schema'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chat --trace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[09/18]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AGENT 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RAG + SQL tool loop, streamed over SSE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11535" cy="512064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73152" cy="5120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0116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011680"/>
            <a:ext cx="6705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/api/chat/stream endpoint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569464"/>
            <a:ext cx="10911535" cy="51206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569464"/>
            <a:ext cx="73152" cy="5120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6946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5694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569464"/>
            <a:ext cx="6705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 top-5 + FTS5 top-3 -&gt; dedupe -&gt; merge (max 8)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27248"/>
            <a:ext cx="10911535" cy="512064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127248"/>
            <a:ext cx="73152" cy="5120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12724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312724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SYSTEM PROMPT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127248"/>
            <a:ext cx="6705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+ learning context + tool descriptions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685032"/>
            <a:ext cx="10911535" cy="51206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85032"/>
            <a:ext cx="73152" cy="5120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68503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368503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LLM CALL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3685032"/>
            <a:ext cx="6705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 (not streamed) so tool markers can be parsed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242816"/>
            <a:ext cx="10911535" cy="512064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242816"/>
            <a:ext cx="73152" cy="5120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24281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45920" y="42428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LOOP (up to 3x)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63440" y="4242816"/>
            <a:ext cx="6705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[TOOL:]...[/TOOL] -&gt; exec -&gt; feed back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800600"/>
            <a:ext cx="10911535" cy="512064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800600"/>
            <a:ext cx="73152" cy="5120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80060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45920" y="48006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 CLEAN ANSWER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800600"/>
            <a:ext cx="6705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events: session | status | content | done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358384"/>
            <a:ext cx="10911535" cy="512064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5358384"/>
            <a:ext cx="73152" cy="512064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35838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645920" y="535838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PERSIST + CITE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63440" y="5358384"/>
            <a:ext cx="67052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to chat_history + return sources + image URLs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961888"/>
            <a:ext cx="11094415" cy="50292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96188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 guardrails:  </a:t>
            </a:r>
            <a:pPr algn="ctr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 stream timeout</a:t>
            </a:r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||   </a:t>
            </a:r>
            <a:pPr algn="ctr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loop &lt;= 3 iter</a:t>
            </a:r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||   </a:t>
            </a:r>
            <a:pPr algn="ctr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read-only SQL</a:t>
            </a:r>
            <a:pPr algn="ctr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||   </a:t>
            </a:r>
            <a:pPr algn="ctr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path-traversal check on images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tail -f chat.py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agent --tools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TOOL SUITE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tools the agent can call inside a [TOOL:]...[/TOOL] block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15258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3515258" cy="109728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READ-ONLY SQL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3058058" cy="68580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17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query_catalog_db(sql)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SELECT against kontact.db and returns a markdown table.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983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read-only enforced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530352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max 50 rows returned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markdown output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38218" y="1965960"/>
            <a:ext cx="3515258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8218" y="1965960"/>
            <a:ext cx="3515258" cy="109728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66818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66818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DISCOVERY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66818" y="3017520"/>
            <a:ext cx="3058058" cy="68580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2538" y="3017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introspect_schema(table)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6818" y="3840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tables, or shows columns + types + sample rows for a given table.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66818" y="4983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no args -&gt; list all tables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66818" y="530352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with arg -&gt; full column detail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66818" y="562356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for planning multi-step queries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27797" y="1965960"/>
            <a:ext cx="3515258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27797" y="1965960"/>
            <a:ext cx="3515258" cy="109728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9" name="Text 27"/>
          <p:cNvSpPr/>
          <p:nvPr/>
        </p:nvSpPr>
        <p:spPr>
          <a:xfrm>
            <a:off x="8356397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56397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OVERVIEW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356397" y="3017520"/>
            <a:ext cx="3058058" cy="68580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2117" y="3017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get_catalog_summary()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6397" y="384048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totals: docs, products, companies, folders, categories.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56397" y="498348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zero args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56397" y="530352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injected into learning context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56397" y="5623560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keeps agent grounded in reality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126480"/>
            <a:ext cx="11094415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1264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invocation format:  </a:t>
            </a:r>
            <a:pPr algn="ctr" indent="0" marL="0">
              <a:buNone/>
            </a:pPr>
            <a:r>
              <a:rPr lang="en-US" sz="105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[TOOL: query_catalog_db]SELECT ...[/TOOL]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  OpenRouter-compatible, no native tool_use needed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tools.py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memory --inspect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[11/18]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&amp; LEARNING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file-based persistence that shapes every future prompt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03520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30352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754880" cy="14630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51760"/>
            <a:ext cx="73152" cy="146304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data/memories.json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the agent decides are worth remembering across sessions.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343400"/>
            <a:ext cx="4754880" cy="14630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43400"/>
            <a:ext cx="73152" cy="146304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data/feedback.json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937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/ thumbs down pairs with the full question + answer.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965960"/>
            <a:ext cx="5516575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965960"/>
            <a:ext cx="5516575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965960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CONTEXT (injected per prompt)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697480"/>
            <a:ext cx="4967935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6974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2697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MEMORIES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64040" y="2697480"/>
            <a:ext cx="1904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facts from memories.json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3520440"/>
            <a:ext cx="4967935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3520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APPROVED RESPONSES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64040" y="3520440"/>
            <a:ext cx="1904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thumbs-up examples to imitate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0" y="4343400"/>
            <a:ext cx="4967935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3434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4343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AVOID PATTERNS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64040" y="4343400"/>
            <a:ext cx="1904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thumbs-down examples to avoid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0" y="5166360"/>
            <a:ext cx="4967935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166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5166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CATALOG SUMMARY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64040" y="5166360"/>
            <a:ext cx="1904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stats from get_catalog_summary()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126480"/>
            <a:ext cx="11094415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1264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file-based memory: zero extra infra, trivially portable, auditable as plain JSON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jq . data/memories.json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api --routes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SURFACE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20+ endpoints grouped by capability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087209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2087209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13556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&amp; QUEUE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5769" y="2011680"/>
            <a:ext cx="548640" cy="32004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1" name="Text 9"/>
          <p:cNvSpPr/>
          <p:nvPr/>
        </p:nvSpPr>
        <p:spPr>
          <a:xfrm>
            <a:off x="1995769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/api/upload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862072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/api/upload/folder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209544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/api/queue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557016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/api/queue/batches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9044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/api/queue/pending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425196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/api/queue/errors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4599432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/api/queue/retry/{id}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946904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/api/process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5294376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/api/process/background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00441" y="1965960"/>
            <a:ext cx="2087209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00441" y="1965960"/>
            <a:ext cx="2087209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2891881" y="1965960"/>
            <a:ext cx="13556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&amp; AGENT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47571" y="2011680"/>
            <a:ext cx="548640" cy="32004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25" name="Text 23"/>
          <p:cNvSpPr/>
          <p:nvPr/>
        </p:nvSpPr>
        <p:spPr>
          <a:xfrm>
            <a:off x="4247571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37601" y="25146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/api/chat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37601" y="2862072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/api/chat/stream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37601" y="3209544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/api/chat/sessions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37601" y="3557016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/api/chat/history/{id}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37601" y="39044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/api/chat/sessions/{id}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52243" y="1965960"/>
            <a:ext cx="2087209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52243" y="1965960"/>
            <a:ext cx="2087209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3" name="Text 31"/>
          <p:cNvSpPr/>
          <p:nvPr/>
        </p:nvSpPr>
        <p:spPr>
          <a:xfrm>
            <a:off x="5143683" y="1965960"/>
            <a:ext cx="13556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9372" y="2011680"/>
            <a:ext cx="548640" cy="320040"/>
          </a:xfrm>
          <a:prstGeom prst="rect">
            <a:avLst/>
          </a:prstGeom>
          <a:solidFill>
            <a:srgbClr val="2962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99372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89403" y="25146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/api/search?q=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89403" y="2862072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/api/search/semantic?q=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04044" y="1965960"/>
            <a:ext cx="2087209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04044" y="1965960"/>
            <a:ext cx="2087209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0" name="Text 38"/>
          <p:cNvSpPr/>
          <p:nvPr/>
        </p:nvSpPr>
        <p:spPr>
          <a:xfrm>
            <a:off x="7395484" y="1965960"/>
            <a:ext cx="13556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&amp; EXPORT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751174" y="2011680"/>
            <a:ext cx="548640" cy="32004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42" name="Text 40"/>
          <p:cNvSpPr/>
          <p:nvPr/>
        </p:nvSpPr>
        <p:spPr>
          <a:xfrm>
            <a:off x="8751174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41204" y="25146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/api/data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41204" y="2862072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41204" y="3209544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/api/index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41204" y="3557016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/api/export/json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41204" y="39044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/api/export/csv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555846" y="1965960"/>
            <a:ext cx="2087209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55846" y="1965960"/>
            <a:ext cx="2087209" cy="4114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0" name="Text 48"/>
          <p:cNvSpPr/>
          <p:nvPr/>
        </p:nvSpPr>
        <p:spPr>
          <a:xfrm>
            <a:off x="9647286" y="1965960"/>
            <a:ext cx="13556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 + META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002975" y="2011680"/>
            <a:ext cx="548640" cy="32004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52" name="Text 50"/>
          <p:cNvSpPr/>
          <p:nvPr/>
        </p:nvSpPr>
        <p:spPr>
          <a:xfrm>
            <a:off x="11002975" y="2011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693006" y="2514600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/api/feedback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693006" y="2862072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/api/memories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93006" y="3209544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/api/image/{f}/{file}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693006" y="3557016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/api/config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693006" y="3904488"/>
            <a:ext cx="1812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8640" y="6126480"/>
            <a:ext cx="11094415" cy="384048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61264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SSE streaming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 CORS enabled  //  SPA static served from root  //  healthcheck for Docker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localhost:8000/health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ui --tabs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[13/18]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 — 5 TABS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SvelteKit 5 + Tailwind v4, mobile-first, PWA-installable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685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109728" cy="68580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2039112"/>
            <a:ext cx="771113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capture, drag-drop, gallery. Real progress bar via XHR, image-quality warnings, custom batch naming.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109728" cy="685800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27432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2816352"/>
            <a:ext cx="771113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rows with status icons. Inline expand shows thumbnails + metadata. RETRY and RETRY ALL for errored items.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20440"/>
            <a:ext cx="109728" cy="685800"/>
          </a:xfrm>
          <a:prstGeom prst="rect">
            <a:avLst/>
          </a:prstGeom>
          <a:solidFill>
            <a:srgbClr val="2962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20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35204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49040" y="3593592"/>
            <a:ext cx="771113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agent with tool visualizer, image citations, voice input, session history, export as markdown.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97680"/>
            <a:ext cx="109728" cy="6858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2976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0200" y="4297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49040" y="4370832"/>
            <a:ext cx="771113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every extracted document. Filter by folder + type, sort, expand cards, COPY text + SAVE JSON per doc.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074920"/>
            <a:ext cx="109728" cy="68580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0749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00200" y="5074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749040" y="5148072"/>
            <a:ext cx="771113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export (JSON/CSV), global stats, model config, one-click re-index of all JSONs into DB + vectors.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brutalist design system  //  Space Grotesk mono  //  thick borders  //  </a:t>
            </a:r>
            <a:pPr algn="ctr" indent="0" marL="0">
              <a:buNone/>
            </a:pPr>
            <a:r>
              <a:rPr lang="en-US" sz="10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PWA w/ network-first SW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frontend &amp;&amp; npm run dev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chat --ui-features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UI — DEEP DIVE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most feature-rich tab in the product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 SSE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tokens with "RAG ANALYZING" spinner + checkmarks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0148" y="2011680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0148" y="2011680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38748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 EXECUTION BAR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1908" y="2011680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kontact exec --catalog-rag --gemini  (for vibe)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715768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715768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7157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 STEPS PANEL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715768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query_catalog_db... checkmark 0.01s (terminal look)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0148" y="2715768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0148" y="2715768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8748" y="27157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CITATIONS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1908" y="2715768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clickable thumbnails with lightbox for every source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419856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419856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4198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BAR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00400" y="3419856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HELPFUL? thumbs + COPY + SAVE per assistant turn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0148" y="3419856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0148" y="3419856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29" name="Text 27"/>
          <p:cNvSpPr/>
          <p:nvPr/>
        </p:nvSpPr>
        <p:spPr>
          <a:xfrm>
            <a:off x="6438748" y="34198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FOLLOW-UP CHIPS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61908" y="3419856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suggested next questions generated inline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123944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123944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1239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 INPUT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00400" y="4123944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Speech API push-to-talk, browser-native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0148" y="4123944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4123944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37" name="Text 35"/>
          <p:cNvSpPr/>
          <p:nvPr/>
        </p:nvSpPr>
        <p:spPr>
          <a:xfrm>
            <a:off x="6438748" y="41239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SIDEBAR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61908" y="4123944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+ "time ago" previews + delete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4828032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828032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8280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 AS MARKDOWN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00400" y="4828032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 the full conversation to a .md file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10148" y="4828032"/>
            <a:ext cx="5432908" cy="5943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0148" y="4828032"/>
            <a:ext cx="73152" cy="594360"/>
          </a:xfrm>
          <a:prstGeom prst="rect">
            <a:avLst/>
          </a:prstGeom>
          <a:solidFill>
            <a:srgbClr val="00B74A"/>
          </a:solidFill>
          <a:ln/>
        </p:spPr>
      </p:sp>
      <p:sp>
        <p:nvSpPr>
          <p:cNvPr id="45" name="Text 43"/>
          <p:cNvSpPr/>
          <p:nvPr/>
        </p:nvSpPr>
        <p:spPr>
          <a:xfrm>
            <a:off x="6438748" y="48280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60s TIMEOUT SHIELD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861908" y="4828032"/>
            <a:ext cx="25982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never hangs — guaranteed fast-fail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 http://localhost:8000/chat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stack --list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[15/18]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pragmatic choices: local-first storage, OpenRouter for models, SvelteKit 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64328" cy="416052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364328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6596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+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697480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Python 3.12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355848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55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LLM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355848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3.1 Flash Lite // OpenRouter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014216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142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4014216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openai/text-embedding-3-small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672584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6725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672584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(WAL mode) + FTS5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5330952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3309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5330952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 (persistent, local)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8728" y="1965960"/>
            <a:ext cx="5364328" cy="416052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8728" y="1965960"/>
            <a:ext cx="5364328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6553048" y="196596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+ INFRA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53048" y="2697480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0208" y="2697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47608" y="2697480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SvelteKit 5 + Svelte 5 runes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53048" y="3355848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0208" y="33558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47608" y="3355848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v4 + brutalist system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53048" y="4014216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90208" y="40142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47608" y="4014216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Grotesk (mono)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53048" y="4672584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0208" y="46725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47608" y="4672584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multi-stage + healthcheck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53048" y="5330952"/>
            <a:ext cx="4815688" cy="548640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90208" y="53309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PWA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47608" y="5330952"/>
            <a:ext cx="2666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 + network-first SW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requirements.txt package.json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--why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[16/18]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DESIGN DECISIONS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eight non-obvious choices that shaped the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32908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48640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460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QUEUE-BASED UPLOAD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460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is instant; vision extraction happens in the background. UI never blocks on model latency.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0148" y="1965960"/>
            <a:ext cx="5432908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0148" y="1965960"/>
            <a:ext cx="548640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0148" y="196596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95948" y="2057400"/>
            <a:ext cx="460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ROUTING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95948" y="2423160"/>
            <a:ext cx="460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agent picks the page type; specialized extractor gets a prompt tuned for that shape of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5432908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154680"/>
            <a:ext cx="548640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5468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246120"/>
            <a:ext cx="460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 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611880"/>
            <a:ext cx="460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FTS5 for exact keywords + Chroma for semantic similarity. Dedupe + merge, up to 8 chunks.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0148" y="3154680"/>
            <a:ext cx="5432908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0148" y="3154680"/>
            <a:ext cx="548640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0148" y="315468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95948" y="3246120"/>
            <a:ext cx="460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TOOL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5948" y="3611880"/>
            <a:ext cx="460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counting, filtering, and aggregation via live tool calls — not approximated from embeddings.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5432908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43400"/>
            <a:ext cx="548640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434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234440" y="4434840"/>
            <a:ext cx="460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PROMPT-BASED TOOLS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800600"/>
            <a:ext cx="460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[TOOL:]...[/TOOL] markers instead of native tool_use — works with any OpenRouter model.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0148" y="4343400"/>
            <a:ext cx="5432908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0148" y="4343400"/>
            <a:ext cx="548640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/>
          <p:nvPr/>
        </p:nvSpPr>
        <p:spPr>
          <a:xfrm>
            <a:off x="6210148" y="43434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95948" y="4434840"/>
            <a:ext cx="460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FILE-BASED MEMORY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95948" y="4800600"/>
            <a:ext cx="460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memories.json and feedback.json — no extra DB, human-readable, trivially backed up.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532120"/>
            <a:ext cx="5432908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532120"/>
            <a:ext cx="548640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53212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234440" y="5623560"/>
            <a:ext cx="460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NETWORK-FIRST SW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34440" y="5989320"/>
            <a:ext cx="460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service worker always hits network first, falls back to cache — fresh data over stale.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0148" y="5532120"/>
            <a:ext cx="5432908" cy="105156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0148" y="5532120"/>
            <a:ext cx="548640" cy="10515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4" name="Text 42"/>
          <p:cNvSpPr/>
          <p:nvPr/>
        </p:nvSpPr>
        <p:spPr>
          <a:xfrm>
            <a:off x="6210148" y="553212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95948" y="5623560"/>
            <a:ext cx="4609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PORTABLE IMAGES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95948" y="5989320"/>
            <a:ext cx="46099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lives in data/uploads/ — no external path deps, fully self-contained volume.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less DESIGN.md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deploy --run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[17/18]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11094415" cy="0"/>
          </a:xfrm>
          <a:prstGeom prst="line">
            <a:avLst/>
          </a:prstGeom>
          <a:noFill/>
          <a:ln w="28575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&amp; CONFIG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command to run, five env vars to tune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6035040" cy="4114800"/>
          </a:xfrm>
          <a:prstGeom prst="rect">
            <a:avLst/>
          </a:prstGeom>
          <a:solidFill>
            <a:srgbClr val="0A0A0A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603504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" y="2075688"/>
            <a:ext cx="146304" cy="146304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075688"/>
            <a:ext cx="146304" cy="146304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11" name="Shape 9"/>
          <p:cNvSpPr/>
          <p:nvPr/>
        </p:nvSpPr>
        <p:spPr>
          <a:xfrm>
            <a:off x="905256" y="2075688"/>
            <a:ext cx="146304" cy="146304"/>
          </a:xfrm>
          <a:prstGeom prst="ellipse">
            <a:avLst/>
          </a:prstGeom>
          <a:solidFill>
            <a:srgbClr val="00B74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-- deploy.sh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pPr indent="0" marL="0">
              <a:buNone/>
            </a:pPr>
            <a:r>
              <a:rPr lang="en-US" sz="130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9900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</a:t>
            </a:r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OPENROUTER_API_KEY to .env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37413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pPr indent="0" marL="0">
              <a:buNone/>
            </a:pPr>
            <a:r>
              <a:rPr lang="en-US" sz="130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./deploy.sh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581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building frontend...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1422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starting fastapi + uvicorn on :8000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pPr indent="0" marL="0">
              <a:buNone/>
            </a:pPr>
            <a:r>
              <a:rPr lang="en-US" sz="130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healthcheck: OK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49103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29437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pPr indent="0" marL="0">
              <a:buNone/>
            </a:pPr>
            <a:r>
              <a:rPr lang="en-US" sz="130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1965960"/>
            <a:ext cx="4785055" cy="4114800"/>
          </a:xfrm>
          <a:prstGeom prst="rect">
            <a:avLst/>
          </a:prstGeom>
          <a:solidFill>
            <a:srgbClr val="F5F5F5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965960"/>
            <a:ext cx="4785055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965960"/>
            <a:ext cx="4236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VARIABLES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0" y="2606040"/>
            <a:ext cx="4236415" cy="5669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2606040"/>
            <a:ext cx="2296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OPENROUTER_API_KEY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66306" y="2743200"/>
            <a:ext cx="822960" cy="292608"/>
          </a:xfrm>
          <a:prstGeom prst="rect">
            <a:avLst/>
          </a:prstGeom>
          <a:solidFill>
            <a:srgbClr val="FF5722"/>
          </a:solidFill>
          <a:ln w="28575">
            <a:solidFill>
              <a:srgbClr val="FF57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66306" y="2743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480706" y="2606040"/>
            <a:ext cx="120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0" y="3282696"/>
            <a:ext cx="4236415" cy="5669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282696"/>
            <a:ext cx="2296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VISION_MODEL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566306" y="3419856"/>
            <a:ext cx="822960" cy="292608"/>
          </a:xfrm>
          <a:prstGeom prst="rect">
            <a:avLst/>
          </a:prstGeom>
          <a:solidFill>
            <a:srgbClr val="737373"/>
          </a:solidFill>
          <a:ln w="28575">
            <a:solidFill>
              <a:srgbClr val="7373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66306" y="34198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80706" y="3282696"/>
            <a:ext cx="120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google/gemini-3.1-flash-lite-preview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32320" y="3959352"/>
            <a:ext cx="4236415" cy="5669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3959352"/>
            <a:ext cx="2296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EMBEDDING_MODEL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566306" y="4096512"/>
            <a:ext cx="822960" cy="292608"/>
          </a:xfrm>
          <a:prstGeom prst="rect">
            <a:avLst/>
          </a:prstGeom>
          <a:solidFill>
            <a:srgbClr val="737373"/>
          </a:solidFill>
          <a:ln w="28575">
            <a:solidFill>
              <a:srgbClr val="7373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66306" y="40965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480706" y="3959352"/>
            <a:ext cx="120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openai/text-embedding-3-small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4636008"/>
            <a:ext cx="4236415" cy="5669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4636008"/>
            <a:ext cx="2296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MAX_WORKERS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566306" y="4773168"/>
            <a:ext cx="822960" cy="292608"/>
          </a:xfrm>
          <a:prstGeom prst="rect">
            <a:avLst/>
          </a:prstGeom>
          <a:solidFill>
            <a:srgbClr val="737373"/>
          </a:solidFill>
          <a:ln w="28575">
            <a:solidFill>
              <a:srgbClr val="7373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66306" y="47731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80706" y="4636008"/>
            <a:ext cx="120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32320" y="5312664"/>
            <a:ext cx="4236415" cy="566928"/>
          </a:xfrm>
          <a:prstGeom prst="rect">
            <a:avLst/>
          </a:prstGeom>
          <a:solidFill>
            <a:srgbClr val="FFFFFF"/>
          </a:solidFill>
          <a:ln w="28575">
            <a:solidFill>
              <a:srgbClr val="0A0A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5312664"/>
            <a:ext cx="22968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566306" y="5449824"/>
            <a:ext cx="822960" cy="292608"/>
          </a:xfrm>
          <a:prstGeom prst="rect">
            <a:avLst/>
          </a:prstGeom>
          <a:solidFill>
            <a:srgbClr val="737373"/>
          </a:solidFill>
          <a:ln w="28575">
            <a:solidFill>
              <a:srgbClr val="73737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66306" y="5449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480706" y="5312664"/>
            <a:ext cx="12080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85455" y="6537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v1.0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137160"/>
            <a:ext cx="182880" cy="182880"/>
          </a:xfrm>
          <a:prstGeom prst="ellipse">
            <a:avLst/>
          </a:prstGeom>
          <a:solidFill>
            <a:srgbClr val="FF5722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7160"/>
            <a:ext cx="182880" cy="18288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37160"/>
            <a:ext cx="182880" cy="182880"/>
          </a:xfrm>
          <a:prstGeom prst="ellipse">
            <a:avLst/>
          </a:prstGeom>
          <a:solidFill>
            <a:srgbClr val="00B74A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91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-- ready for trade show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--ready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spc="300" kern="0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SHIP.</a:t>
            </a:r>
            <a:endParaRPr lang="en-US" sz="12000" dirty="0"/>
          </a:p>
        </p:txBody>
      </p:sp>
      <p:sp>
        <p:nvSpPr>
          <p:cNvPr id="10" name="Shape 8"/>
          <p:cNvSpPr/>
          <p:nvPr/>
        </p:nvSpPr>
        <p:spPr>
          <a:xfrm>
            <a:off x="929488" y="5074920"/>
            <a:ext cx="2377440" cy="960120"/>
          </a:xfrm>
          <a:prstGeom prst="rect">
            <a:avLst/>
          </a:prstGeom>
          <a:solidFill>
            <a:srgbClr val="1A1A1A"/>
          </a:solidFill>
          <a:ln w="19050">
            <a:solidFill>
              <a:srgbClr val="00B7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9488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29488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81248" y="5074920"/>
            <a:ext cx="2377440" cy="960120"/>
          </a:xfrm>
          <a:prstGeom prst="rect">
            <a:avLst/>
          </a:prstGeom>
          <a:solidFill>
            <a:srgbClr val="1A1A1A"/>
          </a:solidFill>
          <a:ln w="19050">
            <a:solidFill>
              <a:srgbClr val="00B7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1248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581248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TYPES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3008" y="5074920"/>
            <a:ext cx="2377440" cy="960120"/>
          </a:xfrm>
          <a:prstGeom prst="rect">
            <a:avLst/>
          </a:prstGeom>
          <a:solidFill>
            <a:srgbClr val="1A1A1A"/>
          </a:solidFill>
          <a:ln w="19050">
            <a:solidFill>
              <a:srgbClr val="00B7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3008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33008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TOOLS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84768" y="5074920"/>
            <a:ext cx="2377440" cy="960120"/>
          </a:xfrm>
          <a:prstGeom prst="rect">
            <a:avLst/>
          </a:prstGeom>
          <a:solidFill>
            <a:srgbClr val="1A1A1A"/>
          </a:solidFill>
          <a:ln w="19050">
            <a:solidFill>
              <a:srgbClr val="00B7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4768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7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884768" y="5577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DEPLOY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71055" y="6263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KONTACT // 2026.04.22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KONTACT — Catalog Vision RAG Agent</dc:title>
  <dc:subject>PptxGenJS Presentation</dc:subject>
  <dc:creator>KONTACT</dc:creator>
  <cp:lastModifiedBy>KONTACT</cp:lastModifiedBy>
  <cp:revision>1</cp:revision>
  <dcterms:created xsi:type="dcterms:W3CDTF">2026-04-22T11:23:11Z</dcterms:created>
  <dcterms:modified xsi:type="dcterms:W3CDTF">2026-04-22T11:23:11Z</dcterms:modified>
</cp:coreProperties>
</file>